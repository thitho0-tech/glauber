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61520" cy="6858000"/>
  <p:notesSz cx="6858000" cy="1216152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Impacto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D98324"/>
              </a:solidFill>
              <a:ln w="25400" cap="flat">
                <a:solidFill>
                  <a:srgbClr val="F4F5F7"/>
                </a:solidFill>
                <a:prstDash val="solid"/>
                <a:round/>
              </a:ln>
              <a:effectLst/>
            </c:spPr>
          </c:dPt>
          <c:dPt>
            <c:idx val="1"/>
            <c:bubble3D val="0"/>
            <c:spPr>
              <a:solidFill>
                <a:srgbClr val="16213E"/>
              </a:solidFill>
              <a:ln w="25400" cap="flat">
                <a:solidFill>
                  <a:srgbClr val="F4F5F7"/>
                </a:solidFill>
                <a:prstDash val="solid"/>
                <a:round/>
              </a:ln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Impacto alto (dores críticas)</c:v>
                </c:pt>
                <c:pt idx="1">
                  <c:v>Impacto moderado (organiza melhor)</c:v>
                </c:pt>
              </c:strCache>
            </c:strRef>
          </c:cat>
          <c:val>
            <c:numRef>
              <c:f>Sheet1!$B$2:$B$3</c:f>
              <c:numCache>
                <c:ptCount val="2"/>
                <c:pt idx="0">
                  <c:v>13</c:v>
                </c:pt>
                <c:pt idx="1">
                  <c:v>16</c:v>
                </c:pt>
              </c:numCache>
            </c:numRef>
          </c:val>
        </c:ser>
        <c:firstSliceAng val="0"/>
        <c:holeSize val="58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1F2430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16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18320" y="-1645920"/>
            <a:ext cx="3840480" cy="3840480"/>
          </a:xfrm>
          <a:prstGeom prst="ellipse">
            <a:avLst/>
          </a:prstGeom>
          <a:solidFill>
            <a:srgbClr val="16213E"/>
          </a:solidFill>
          <a:ln/>
        </p:spPr>
      </p:sp>
      <p:sp>
        <p:nvSpPr>
          <p:cNvPr id="3" name="Shape 1"/>
          <p:cNvSpPr/>
          <p:nvPr/>
        </p:nvSpPr>
        <p:spPr>
          <a:xfrm>
            <a:off x="-1280160" y="4846320"/>
            <a:ext cx="3291840" cy="3291840"/>
          </a:xfrm>
          <a:prstGeom prst="ellipse">
            <a:avLst/>
          </a:prstGeom>
          <a:solidFill>
            <a:srgbClr val="16213E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417320"/>
            <a:ext cx="457200" cy="4572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1874520"/>
            <a:ext cx="10058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0" b="1" spc="2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GLAUBER</a:t>
            </a:r>
            <a:endParaRPr lang="en-US" sz="8000" dirty="0"/>
          </a:p>
        </p:txBody>
      </p:sp>
      <p:sp>
        <p:nvSpPr>
          <p:cNvPr id="6" name="Text 3"/>
          <p:cNvSpPr/>
          <p:nvPr/>
        </p:nvSpPr>
        <p:spPr>
          <a:xfrm>
            <a:off x="548640" y="320040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i="1" dirty="0">
                <a:solidFill>
                  <a:srgbClr val="F2A6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sistema operacional para produções audiovisuais</a:t>
            </a:r>
            <a:endParaRPr lang="en-US" sz="2600" dirty="0"/>
          </a:p>
        </p:txBody>
      </p:sp>
      <p:sp>
        <p:nvSpPr>
          <p:cNvPr id="7" name="Text 4"/>
          <p:cNvSpPr/>
          <p:nvPr/>
        </p:nvSpPr>
        <p:spPr>
          <a:xfrm>
            <a:off x="548640" y="388620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7CD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Uma ideia na cabeça e o Glauber na mão.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548640" y="4709160"/>
            <a:ext cx="1252728" cy="420624"/>
          </a:xfrm>
          <a:prstGeom prst="roundRect">
            <a:avLst>
              <a:gd name="adj" fmla="val 50000"/>
            </a:avLst>
          </a:prstGeom>
          <a:solidFill>
            <a:srgbClr val="16213E"/>
          </a:solidFill>
          <a:ln w="12700">
            <a:solidFill>
              <a:srgbClr val="D98324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48640" y="4709160"/>
            <a:ext cx="125272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SaaS · B2B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2002536" y="4709160"/>
            <a:ext cx="1348740" cy="420624"/>
          </a:xfrm>
          <a:prstGeom prst="roundRect">
            <a:avLst>
              <a:gd name="adj" fmla="val 50000"/>
            </a:avLst>
          </a:prstGeom>
          <a:solidFill>
            <a:srgbClr val="16213E"/>
          </a:solidFill>
          <a:ln w="12700">
            <a:solidFill>
              <a:srgbClr val="D98324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2002536" y="4709160"/>
            <a:ext cx="13487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Audiovisual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3552444" y="4709160"/>
            <a:ext cx="1444752" cy="420624"/>
          </a:xfrm>
          <a:prstGeom prst="roundRect">
            <a:avLst>
              <a:gd name="adj" fmla="val 50000"/>
            </a:avLst>
          </a:prstGeom>
          <a:solidFill>
            <a:srgbClr val="16213E"/>
          </a:solidFill>
          <a:ln w="12700">
            <a:solidFill>
              <a:srgbClr val="D98324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3552444" y="4709160"/>
            <a:ext cx="144475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 + Mobile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5198364" y="4709160"/>
            <a:ext cx="1348740" cy="420624"/>
          </a:xfrm>
          <a:prstGeom prst="roundRect">
            <a:avLst>
              <a:gd name="adj" fmla="val 50000"/>
            </a:avLst>
          </a:prstGeom>
          <a:solidFill>
            <a:srgbClr val="16213E"/>
          </a:solidFill>
          <a:ln w="12700">
            <a:solidFill>
              <a:srgbClr val="D98324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198364" y="4709160"/>
            <a:ext cx="13487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Recife · PE</a:t>
            </a:r>
            <a:endParaRPr lang="en-US" sz="1150" dirty="0"/>
          </a:p>
        </p:txBody>
      </p:sp>
      <p:sp>
        <p:nvSpPr>
          <p:cNvPr id="16" name="Text 13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GLAUBER</a:t>
            </a:r>
            <a:pPr algn="l" indent="0" marL="0">
              <a:buNone/>
            </a:pPr>
            <a:r>
              <a:rPr lang="en-US" sz="900" dirty="0">
                <a:solidFill>
                  <a:srgbClr val="9AA3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·   Porto Digital · Pré-Incubação 2026.1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10515600" y="640080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3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1/12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D983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69680" y="3749040"/>
            <a:ext cx="4572000" cy="4572000"/>
          </a:xfrm>
          <a:prstGeom prst="ellipse">
            <a:avLst/>
          </a:prstGeom>
          <a:solidFill>
            <a:srgbClr val="C56F1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82296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0E1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IDEIA EM UMA FRASE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1060704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4400"/>
              </a:lnSpc>
              <a:buNone/>
            </a:pPr>
            <a:r>
              <a:rPr lang="en-US" sz="3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Glauber elimina o caos operacional das produções audiovisuais</a:t>
            </a:r>
            <a:pPr indent="0" marL="0">
              <a:lnSpc>
                <a:spcPts val="4400"/>
              </a:lnSpc>
              <a:buNone/>
            </a:pPr>
            <a:r>
              <a:rPr lang="en-US" sz="3300" dirty="0">
                <a:solidFill>
                  <a:srgbClr val="0E1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centralizando </a:t>
            </a:r>
            <a:pPr indent="0" marL="0">
              <a:lnSpc>
                <a:spcPts val="4400"/>
              </a:lnSpc>
              <a:buNone/>
            </a:pPr>
            <a:r>
              <a:rPr lang="en-US" sz="3300" b="1" dirty="0">
                <a:solidFill>
                  <a:srgbClr val="0E1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pré-produção, comunicação, financeiro e logística</a:t>
            </a:r>
            <a:pPr indent="0" marL="0">
              <a:lnSpc>
                <a:spcPts val="4400"/>
              </a:lnSpc>
              <a:buNone/>
            </a:pPr>
            <a:r>
              <a:rPr lang="en-US" sz="3300" dirty="0">
                <a:solidFill>
                  <a:srgbClr val="0E1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numa única plataforma para produtoras e técnicos.</a:t>
            </a:r>
            <a:endParaRPr lang="en-US" sz="3300" dirty="0"/>
          </a:p>
        </p:txBody>
      </p:sp>
      <p:sp>
        <p:nvSpPr>
          <p:cNvPr id="5" name="Text 3"/>
          <p:cNvSpPr/>
          <p:nvPr/>
        </p:nvSpPr>
        <p:spPr>
          <a:xfrm>
            <a:off x="548640" y="493776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0E1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 roteiro ao financeiro, tudo em um só lugar.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GLAUBER</a:t>
            </a:r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·   Porto Digital · Pré-Incubação 2026.1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515600" y="640080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2/12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66928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D983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PROBLEMA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10642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465"/>
              </a:lnSpc>
              <a:buNone/>
            </a:pPr>
            <a:r>
              <a:rPr lang="en-US" sz="3300" b="1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set opera no caos.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548640" y="178308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550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gestão de uma produção ainda depende de grupos de WhatsApp, PDFs perdidos no e-mail e planilhas que só uma pessoa sabe atualizar. Nenhuma ferramenta foi pensada para a linguagem do set.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548640" y="2834640"/>
            <a:ext cx="34442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3154680"/>
            <a:ext cx="777240" cy="777240"/>
          </a:xfrm>
          <a:prstGeom prst="ellipse">
            <a:avLst/>
          </a:prstGeom>
          <a:solidFill>
            <a:srgbClr val="FBEAD6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5568" y="3355848"/>
            <a:ext cx="384048" cy="38404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14400" y="4069080"/>
            <a:ext cx="2712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Tempo desperdiçado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914400" y="4572000"/>
            <a:ext cx="27127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Horas perdidas todo dia recriando ordens do dia, repassando recados e procurando a versão certa do documento.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358640" y="2834640"/>
            <a:ext cx="34442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724400" y="3154680"/>
            <a:ext cx="777240" cy="777240"/>
          </a:xfrm>
          <a:prstGeom prst="ellipse">
            <a:avLst/>
          </a:prstGeom>
          <a:solidFill>
            <a:srgbClr val="FBEAD6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25568" y="3355848"/>
            <a:ext cx="384048" cy="38404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724400" y="4069080"/>
            <a:ext cx="2712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Risco financeiro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4724400" y="4572000"/>
            <a:ext cx="27127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Verba solicitada de boca, sem registro formal. Difícil provar gasto e prestar contas para editais e patrocinadores.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8168640" y="2834640"/>
            <a:ext cx="34442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534400" y="3154680"/>
            <a:ext cx="777240" cy="777240"/>
          </a:xfrm>
          <a:prstGeom prst="ellipse">
            <a:avLst/>
          </a:prstGeom>
          <a:solidFill>
            <a:srgbClr val="FBEAD6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35568" y="3355848"/>
            <a:ext cx="384048" cy="38404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534400" y="4069080"/>
            <a:ext cx="2712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Caos logístico</a:t>
            </a:r>
            <a:endParaRPr lang="en-US" sz="1800" dirty="0"/>
          </a:p>
        </p:txBody>
      </p:sp>
      <p:sp>
        <p:nvSpPr>
          <p:cNvPr id="19" name="Text 14"/>
          <p:cNvSpPr/>
          <p:nvPr/>
        </p:nvSpPr>
        <p:spPr>
          <a:xfrm>
            <a:off x="8534400" y="4572000"/>
            <a:ext cx="27127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Transporte e jornada de equipe controlados por áudio de WhatsApp, sem visibilidade de quem já chegou à locação.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GLAUBER</a:t>
            </a:r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·   Porto Digital · Pré-Incubação 2026.1</a:t>
            </a:r>
            <a:endParaRPr lang="en-US" sz="900" dirty="0"/>
          </a:p>
        </p:txBody>
      </p:sp>
      <p:sp>
        <p:nvSpPr>
          <p:cNvPr id="21" name="Text 16"/>
          <p:cNvSpPr/>
          <p:nvPr/>
        </p:nvSpPr>
        <p:spPr>
          <a:xfrm>
            <a:off x="10515600" y="640080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3/12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621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66928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2A6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PROPOSTA DE VALOR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Mais tempo de set, menos tempo de planilha.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48640" y="178308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F2A6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Tranquilidade para criar, controle para produzir.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548640" y="2788920"/>
            <a:ext cx="2526030" cy="2834640"/>
          </a:xfrm>
          <a:prstGeom prst="roundRect">
            <a:avLst>
              <a:gd name="adj" fmla="val 3620"/>
            </a:avLst>
          </a:prstGeom>
          <a:solidFill>
            <a:srgbClr val="0E1626"/>
          </a:solidFill>
          <a:ln w="12700">
            <a:solidFill>
              <a:srgbClr val="2A355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400175" y="3108960"/>
            <a:ext cx="822960" cy="822960"/>
          </a:xfrm>
          <a:prstGeom prst="ellipse">
            <a:avLst/>
          </a:prstGeom>
          <a:solidFill>
            <a:srgbClr val="D98324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92199" y="3300984"/>
            <a:ext cx="438912" cy="43891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31520" y="4114800"/>
            <a:ext cx="216027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Conforto</a:t>
            </a:r>
            <a:endParaRPr lang="en-US" sz="1650" dirty="0"/>
          </a:p>
        </p:txBody>
      </p:sp>
      <p:sp>
        <p:nvSpPr>
          <p:cNvPr id="9" name="Text 6"/>
          <p:cNvSpPr/>
          <p:nvPr/>
        </p:nvSpPr>
        <p:spPr>
          <a:xfrm>
            <a:off x="731520" y="4709160"/>
            <a:ext cx="216027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C7CD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menos coisa para responder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3394710" y="2788920"/>
            <a:ext cx="2526030" cy="2834640"/>
          </a:xfrm>
          <a:prstGeom prst="roundRect">
            <a:avLst>
              <a:gd name="adj" fmla="val 3620"/>
            </a:avLst>
          </a:prstGeom>
          <a:solidFill>
            <a:srgbClr val="0E1626"/>
          </a:solidFill>
          <a:ln w="12700">
            <a:solidFill>
              <a:srgbClr val="2A3556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246245" y="3108960"/>
            <a:ext cx="822960" cy="822960"/>
          </a:xfrm>
          <a:prstGeom prst="ellipse">
            <a:avLst/>
          </a:prstGeom>
          <a:solidFill>
            <a:srgbClr val="D98324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38269" y="3300984"/>
            <a:ext cx="438912" cy="43891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577590" y="4114800"/>
            <a:ext cx="216027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Tempo</a:t>
            </a:r>
            <a:endParaRPr lang="en-US" sz="1650" dirty="0"/>
          </a:p>
        </p:txBody>
      </p:sp>
      <p:sp>
        <p:nvSpPr>
          <p:cNvPr id="14" name="Text 10"/>
          <p:cNvSpPr/>
          <p:nvPr/>
        </p:nvSpPr>
        <p:spPr>
          <a:xfrm>
            <a:off x="3577590" y="4709160"/>
            <a:ext cx="216027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C7CD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mais tempo livre para a vida pessoal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6240780" y="2788920"/>
            <a:ext cx="2526030" cy="2834640"/>
          </a:xfrm>
          <a:prstGeom prst="roundRect">
            <a:avLst>
              <a:gd name="adj" fmla="val 3620"/>
            </a:avLst>
          </a:prstGeom>
          <a:solidFill>
            <a:srgbClr val="0E1626"/>
          </a:solidFill>
          <a:ln w="12700">
            <a:solidFill>
              <a:srgbClr val="2A3556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7092315" y="3108960"/>
            <a:ext cx="822960" cy="822960"/>
          </a:xfrm>
          <a:prstGeom prst="ellipse">
            <a:avLst/>
          </a:prstGeom>
          <a:solidFill>
            <a:srgbClr val="D98324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84339" y="3300984"/>
            <a:ext cx="438912" cy="43891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423660" y="4114800"/>
            <a:ext cx="216027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Segurança financeira</a:t>
            </a:r>
            <a:endParaRPr lang="en-US" sz="1650" dirty="0"/>
          </a:p>
        </p:txBody>
      </p:sp>
      <p:sp>
        <p:nvSpPr>
          <p:cNvPr id="19" name="Text 14"/>
          <p:cNvSpPr/>
          <p:nvPr/>
        </p:nvSpPr>
        <p:spPr>
          <a:xfrm>
            <a:off x="6423660" y="4709160"/>
            <a:ext cx="216027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C7CD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prestação de contas sem susto</a:t>
            </a:r>
            <a:endParaRPr lang="en-US" sz="1250" dirty="0"/>
          </a:p>
        </p:txBody>
      </p:sp>
      <p:sp>
        <p:nvSpPr>
          <p:cNvPr id="20" name="Shape 15"/>
          <p:cNvSpPr/>
          <p:nvPr/>
        </p:nvSpPr>
        <p:spPr>
          <a:xfrm>
            <a:off x="9086850" y="2788920"/>
            <a:ext cx="2526030" cy="2834640"/>
          </a:xfrm>
          <a:prstGeom prst="roundRect">
            <a:avLst>
              <a:gd name="adj" fmla="val 3620"/>
            </a:avLst>
          </a:prstGeom>
          <a:solidFill>
            <a:srgbClr val="0E1626"/>
          </a:solidFill>
          <a:ln w="12700">
            <a:solidFill>
              <a:srgbClr val="2A3556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9938385" y="3108960"/>
            <a:ext cx="822960" cy="822960"/>
          </a:xfrm>
          <a:prstGeom prst="ellipse">
            <a:avLst/>
          </a:prstGeom>
          <a:solidFill>
            <a:srgbClr val="D98324"/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30409" y="3300984"/>
            <a:ext cx="438912" cy="438912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9269730" y="4114800"/>
            <a:ext cx="216027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Profissionalismo</a:t>
            </a:r>
            <a:endParaRPr lang="en-US" sz="1650" dirty="0"/>
          </a:p>
        </p:txBody>
      </p:sp>
      <p:sp>
        <p:nvSpPr>
          <p:cNvPr id="24" name="Text 18"/>
          <p:cNvSpPr/>
          <p:nvPr/>
        </p:nvSpPr>
        <p:spPr>
          <a:xfrm>
            <a:off x="9269730" y="4709160"/>
            <a:ext cx="216027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C7CD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produção confiável, sem esforço extra</a:t>
            </a:r>
            <a:endParaRPr lang="en-US" sz="1250" dirty="0"/>
          </a:p>
        </p:txBody>
      </p:sp>
      <p:sp>
        <p:nvSpPr>
          <p:cNvPr id="25" name="Text 19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GLAUBER</a:t>
            </a:r>
            <a:pPr algn="l" indent="0" marL="0">
              <a:buNone/>
            </a:pPr>
            <a:r>
              <a:rPr lang="en-US" sz="900" dirty="0">
                <a:solidFill>
                  <a:srgbClr val="9AA3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·   Porto Digital · Pré-Incubação 2026.1</a:t>
            </a:r>
            <a:endParaRPr lang="en-US" sz="900" dirty="0"/>
          </a:p>
        </p:txBody>
      </p:sp>
      <p:sp>
        <p:nvSpPr>
          <p:cNvPr id="26" name="Text 20"/>
          <p:cNvSpPr/>
          <p:nvPr/>
        </p:nvSpPr>
        <p:spPr>
          <a:xfrm>
            <a:off x="10515600" y="640080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3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4/12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66928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D983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SOLUÇÃO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10642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465"/>
              </a:lnSpc>
              <a:buNone/>
            </a:pPr>
            <a:r>
              <a:rPr lang="en-US" sz="3300" b="1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Glauber: tudo em um só lugar.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548640" y="173736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Uma plataforma que centraliza toda a operação de uma produção audiovisual — do roteiro ao financeiro.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548640" y="2377440"/>
            <a:ext cx="3474720" cy="1572768"/>
          </a:xfrm>
          <a:prstGeom prst="roundRect">
            <a:avLst>
              <a:gd name="adj" fmla="val 52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04672" y="2670048"/>
            <a:ext cx="658368" cy="658368"/>
          </a:xfrm>
          <a:prstGeom prst="ellipse">
            <a:avLst/>
          </a:prstGeom>
          <a:solidFill>
            <a:srgbClr val="EAF0F6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9264" y="2834640"/>
            <a:ext cx="329184" cy="32918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645920" y="2633472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Ordem do Dia</a:t>
            </a:r>
            <a:endParaRPr lang="en-US" sz="1550" dirty="0"/>
          </a:p>
        </p:txBody>
      </p:sp>
      <p:sp>
        <p:nvSpPr>
          <p:cNvPr id="9" name="Text 6"/>
          <p:cNvSpPr/>
          <p:nvPr/>
        </p:nvSpPr>
        <p:spPr>
          <a:xfrm>
            <a:off x="1645920" y="3090672"/>
            <a:ext cx="2148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50"/>
              </a:lnSpc>
              <a:buNone/>
            </a:pPr>
            <a:r>
              <a:rPr lang="en-US" sz="1180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Interativa, com aprovação e notificação em tempo real. Fim dos PDFs perdidos.</a:t>
            </a:r>
            <a:endParaRPr lang="en-US" sz="1180" dirty="0"/>
          </a:p>
        </p:txBody>
      </p:sp>
      <p:sp>
        <p:nvSpPr>
          <p:cNvPr id="10" name="Shape 7"/>
          <p:cNvSpPr/>
          <p:nvPr/>
        </p:nvSpPr>
        <p:spPr>
          <a:xfrm>
            <a:off x="4343400" y="2377440"/>
            <a:ext cx="3474720" cy="1572768"/>
          </a:xfrm>
          <a:prstGeom prst="roundRect">
            <a:avLst>
              <a:gd name="adj" fmla="val 52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599432" y="2670048"/>
            <a:ext cx="658368" cy="658368"/>
          </a:xfrm>
          <a:prstGeom prst="ellipse">
            <a:avLst/>
          </a:prstGeom>
          <a:solidFill>
            <a:srgbClr val="EAF0F6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64024" y="2834640"/>
            <a:ext cx="329184" cy="329184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440680" y="2633472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Chat por departamento</a:t>
            </a:r>
            <a:endParaRPr lang="en-US" sz="1550" dirty="0"/>
          </a:p>
        </p:txBody>
      </p:sp>
      <p:sp>
        <p:nvSpPr>
          <p:cNvPr id="14" name="Text 10"/>
          <p:cNvSpPr/>
          <p:nvPr/>
        </p:nvSpPr>
        <p:spPr>
          <a:xfrm>
            <a:off x="5440680" y="3090672"/>
            <a:ext cx="2148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50"/>
              </a:lnSpc>
              <a:buNone/>
            </a:pPr>
            <a:r>
              <a:rPr lang="en-US" sz="1180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Canais por Arte, Elenco, Maquinária. Sem caos no WhatsApp.</a:t>
            </a:r>
            <a:endParaRPr lang="en-US" sz="1180" dirty="0"/>
          </a:p>
        </p:txBody>
      </p:sp>
      <p:sp>
        <p:nvSpPr>
          <p:cNvPr id="15" name="Shape 11"/>
          <p:cNvSpPr/>
          <p:nvPr/>
        </p:nvSpPr>
        <p:spPr>
          <a:xfrm>
            <a:off x="8138160" y="2377440"/>
            <a:ext cx="3474720" cy="1572768"/>
          </a:xfrm>
          <a:prstGeom prst="roundRect">
            <a:avLst>
              <a:gd name="adj" fmla="val 52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394192" y="2670048"/>
            <a:ext cx="658368" cy="658368"/>
          </a:xfrm>
          <a:prstGeom prst="ellipse">
            <a:avLst/>
          </a:prstGeom>
          <a:solidFill>
            <a:srgbClr val="EAF0F6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58784" y="2834640"/>
            <a:ext cx="329184" cy="329184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9235440" y="2633472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Financeiro</a:t>
            </a:r>
            <a:endParaRPr lang="en-US" sz="1550" dirty="0"/>
          </a:p>
        </p:txBody>
      </p:sp>
      <p:sp>
        <p:nvSpPr>
          <p:cNvPr id="19" name="Text 14"/>
          <p:cNvSpPr/>
          <p:nvPr/>
        </p:nvSpPr>
        <p:spPr>
          <a:xfrm>
            <a:off x="9235440" y="3090672"/>
            <a:ext cx="2148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50"/>
              </a:lnSpc>
              <a:buNone/>
            </a:pPr>
            <a:r>
              <a:rPr lang="en-US" sz="1180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Solicitação e aprovação de verba com um clique. Prestação de contas digital.</a:t>
            </a:r>
            <a:endParaRPr lang="en-US" sz="1180" dirty="0"/>
          </a:p>
        </p:txBody>
      </p:sp>
      <p:sp>
        <p:nvSpPr>
          <p:cNvPr id="20" name="Shape 15"/>
          <p:cNvSpPr/>
          <p:nvPr/>
        </p:nvSpPr>
        <p:spPr>
          <a:xfrm>
            <a:off x="548640" y="4224528"/>
            <a:ext cx="3474720" cy="1572768"/>
          </a:xfrm>
          <a:prstGeom prst="roundRect">
            <a:avLst>
              <a:gd name="adj" fmla="val 52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804672" y="4517136"/>
            <a:ext cx="658368" cy="658368"/>
          </a:xfrm>
          <a:prstGeom prst="ellipse">
            <a:avLst/>
          </a:prstGeom>
          <a:solidFill>
            <a:srgbClr val="EAF0F6"/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9264" y="4681728"/>
            <a:ext cx="329184" cy="329184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1645920" y="448056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Logística</a:t>
            </a:r>
            <a:endParaRPr lang="en-US" sz="1550" dirty="0"/>
          </a:p>
        </p:txBody>
      </p:sp>
      <p:sp>
        <p:nvSpPr>
          <p:cNvPr id="24" name="Text 18"/>
          <p:cNvSpPr/>
          <p:nvPr/>
        </p:nvSpPr>
        <p:spPr>
          <a:xfrm>
            <a:off x="1645920" y="4937760"/>
            <a:ext cx="2148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50"/>
              </a:lnSpc>
              <a:buNone/>
            </a:pPr>
            <a:r>
              <a:rPr lang="en-US" sz="1180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Transporte, check-in e controle de jornada da equipe na locação.</a:t>
            </a:r>
            <a:endParaRPr lang="en-US" sz="1180" dirty="0"/>
          </a:p>
        </p:txBody>
      </p:sp>
      <p:sp>
        <p:nvSpPr>
          <p:cNvPr id="25" name="Shape 19"/>
          <p:cNvSpPr/>
          <p:nvPr/>
        </p:nvSpPr>
        <p:spPr>
          <a:xfrm>
            <a:off x="4343400" y="4224528"/>
            <a:ext cx="3474720" cy="1572768"/>
          </a:xfrm>
          <a:prstGeom prst="roundRect">
            <a:avLst>
              <a:gd name="adj" fmla="val 52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26" name="Shape 20"/>
          <p:cNvSpPr/>
          <p:nvPr/>
        </p:nvSpPr>
        <p:spPr>
          <a:xfrm>
            <a:off x="4599432" y="4517136"/>
            <a:ext cx="658368" cy="658368"/>
          </a:xfrm>
          <a:prstGeom prst="ellipse">
            <a:avLst/>
          </a:prstGeom>
          <a:solidFill>
            <a:srgbClr val="EAF0F6"/>
          </a:solidFill>
          <a:ln/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64024" y="4681728"/>
            <a:ext cx="329184" cy="329184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5440680" y="448056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Decupagem</a:t>
            </a:r>
            <a:endParaRPr lang="en-US" sz="1550" dirty="0"/>
          </a:p>
        </p:txBody>
      </p:sp>
      <p:sp>
        <p:nvSpPr>
          <p:cNvPr id="29" name="Text 22"/>
          <p:cNvSpPr/>
          <p:nvPr/>
        </p:nvSpPr>
        <p:spPr>
          <a:xfrm>
            <a:off x="5440680" y="4937760"/>
            <a:ext cx="2148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50"/>
              </a:lnSpc>
              <a:buNone/>
            </a:pPr>
            <a:r>
              <a:rPr lang="en-US" sz="1180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Leitura de roteiro com IA, integrada ao cronograma de filmagem.</a:t>
            </a:r>
            <a:endParaRPr lang="en-US" sz="1180" dirty="0"/>
          </a:p>
        </p:txBody>
      </p:sp>
      <p:sp>
        <p:nvSpPr>
          <p:cNvPr id="30" name="Shape 23"/>
          <p:cNvSpPr/>
          <p:nvPr/>
        </p:nvSpPr>
        <p:spPr>
          <a:xfrm>
            <a:off x="8138160" y="4224528"/>
            <a:ext cx="3474720" cy="1572768"/>
          </a:xfrm>
          <a:prstGeom prst="roundRect">
            <a:avLst>
              <a:gd name="adj" fmla="val 52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31" name="Shape 24"/>
          <p:cNvSpPr/>
          <p:nvPr/>
        </p:nvSpPr>
        <p:spPr>
          <a:xfrm>
            <a:off x="8394192" y="4517136"/>
            <a:ext cx="658368" cy="658368"/>
          </a:xfrm>
          <a:prstGeom prst="ellipse">
            <a:avLst/>
          </a:prstGeom>
          <a:solidFill>
            <a:srgbClr val="EAF0F6"/>
          </a:solidFill>
          <a:ln/>
        </p:spPr>
      </p:sp>
      <p:pic>
        <p:nvPicPr>
          <p:cNvPr id="3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58784" y="4681728"/>
            <a:ext cx="329184" cy="329184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9235440" y="448056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Equipe &amp; Arte</a:t>
            </a:r>
            <a:endParaRPr lang="en-US" sz="1550" dirty="0"/>
          </a:p>
        </p:txBody>
      </p:sp>
      <p:sp>
        <p:nvSpPr>
          <p:cNvPr id="34" name="Text 26"/>
          <p:cNvSpPr/>
          <p:nvPr/>
        </p:nvSpPr>
        <p:spPr>
          <a:xfrm>
            <a:off x="9235440" y="4937760"/>
            <a:ext cx="2148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50"/>
              </a:lnSpc>
              <a:buNone/>
            </a:pPr>
            <a:r>
              <a:rPr lang="en-US" sz="1180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Cadastro de equipe, elenco, locações e elementos de arte num só lugar.</a:t>
            </a:r>
            <a:endParaRPr lang="en-US" sz="1180" dirty="0"/>
          </a:p>
        </p:txBody>
      </p:sp>
      <p:sp>
        <p:nvSpPr>
          <p:cNvPr id="35" name="Text 27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GLAUBER</a:t>
            </a:r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·   Porto Digital · Pré-Incubação 2026.1</a:t>
            </a:r>
            <a:endParaRPr lang="en-US" sz="900" dirty="0"/>
          </a:p>
        </p:txBody>
      </p:sp>
      <p:sp>
        <p:nvSpPr>
          <p:cNvPr id="36" name="Text 28"/>
          <p:cNvSpPr/>
          <p:nvPr/>
        </p:nvSpPr>
        <p:spPr>
          <a:xfrm>
            <a:off x="10515600" y="640080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5/12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66928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D983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VALIDAÇÃO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10642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465"/>
              </a:lnSpc>
              <a:buNone/>
            </a:pPr>
            <a:r>
              <a:rPr lang="en-US" sz="3300" b="1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Os números da nossa pesquisa.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548640" y="17373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 profissionais entrevistados · Nordeste, Sudeste, Sul e Norte do Brasil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331720"/>
            <a:ext cx="3223260" cy="1481328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2960" y="2514600"/>
            <a:ext cx="26746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D983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841248" y="3264408"/>
            <a:ext cx="26746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veem impacto positivo do Glauber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091940" y="2331720"/>
            <a:ext cx="3223260" cy="1481328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366260" y="2514600"/>
            <a:ext cx="26746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D983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93%</a:t>
            </a:r>
            <a:endParaRPr lang="en-US" sz="4400" dirty="0"/>
          </a:p>
        </p:txBody>
      </p:sp>
      <p:sp>
        <p:nvSpPr>
          <p:cNvPr id="10" name="Text 8"/>
          <p:cNvSpPr/>
          <p:nvPr/>
        </p:nvSpPr>
        <p:spPr>
          <a:xfrm>
            <a:off x="4384548" y="3264408"/>
            <a:ext cx="26746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usam WhatsApp como ferramenta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4087368"/>
            <a:ext cx="3223260" cy="1481328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822960" y="4270248"/>
            <a:ext cx="26746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D983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62%</a:t>
            </a:r>
            <a:endParaRPr lang="en-US" sz="4400" dirty="0"/>
          </a:p>
        </p:txBody>
      </p:sp>
      <p:sp>
        <p:nvSpPr>
          <p:cNvPr id="13" name="Text 11"/>
          <p:cNvSpPr/>
          <p:nvPr/>
        </p:nvSpPr>
        <p:spPr>
          <a:xfrm>
            <a:off x="841248" y="5020056"/>
            <a:ext cx="26746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gastam +5h/dia em burocracia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091940" y="4087368"/>
            <a:ext cx="3223260" cy="1481328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366260" y="4270248"/>
            <a:ext cx="26746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D983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72%</a:t>
            </a:r>
            <a:endParaRPr lang="en-US" sz="4400" dirty="0"/>
          </a:p>
        </p:txBody>
      </p:sp>
      <p:sp>
        <p:nvSpPr>
          <p:cNvPr id="16" name="Text 14"/>
          <p:cNvSpPr/>
          <p:nvPr/>
        </p:nvSpPr>
        <p:spPr>
          <a:xfrm>
            <a:off x="4384548" y="5020056"/>
            <a:ext cx="26746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tiveram problema em prestação de contas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7680960" y="228600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 o impacto do Glauber no seu trabalho?</a:t>
            </a:r>
            <a:endParaRPr lang="en-US" sz="1350" dirty="0"/>
          </a:p>
        </p:txBody>
      </p:sp>
      <p:graphicFrame>
        <p:nvGraphicFramePr>
          <p:cNvPr id="18" name="Chart 0" descr=""/>
          <p:cNvGraphicFramePr/>
          <p:nvPr/>
        </p:nvGraphicFramePr>
        <p:xfrm>
          <a:off x="7772400" y="2606040"/>
          <a:ext cx="3840480" cy="2468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9" name="Text 16"/>
          <p:cNvSpPr/>
          <p:nvPr/>
        </p:nvSpPr>
        <p:spPr>
          <a:xfrm>
            <a:off x="7680960" y="5074920"/>
            <a:ext cx="4023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250" b="1" dirty="0">
                <a:solidFill>
                  <a:srgbClr val="D983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45% </a:t>
            </a:r>
            <a:pPr algn="ctr"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afirmam impacto alto: resolveria dores críticas e economizaria dinheiro.</a:t>
            </a:r>
            <a:endParaRPr lang="en-US" sz="1250" dirty="0"/>
          </a:p>
        </p:txBody>
      </p:sp>
      <p:sp>
        <p:nvSpPr>
          <p:cNvPr id="20" name="Text 17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GLAUBER</a:t>
            </a:r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·   Porto Digital · Pré-Incubação 2026.1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10515600" y="640080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6/12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621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66928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2A6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MERCADO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10642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Produtoras ganham dinheiro. Mas afundam em gestão manual.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148840"/>
            <a:ext cx="4754880" cy="2286000"/>
          </a:xfrm>
          <a:prstGeom prst="roundRect">
            <a:avLst>
              <a:gd name="adj" fmla="val 4000"/>
            </a:avLst>
          </a:prstGeom>
          <a:solidFill>
            <a:srgbClr val="0E1626"/>
          </a:solidFill>
          <a:ln w="19050">
            <a:solidFill>
              <a:srgbClr val="D9832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2468880"/>
            <a:ext cx="43891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F2A6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R$ 70,2 bi</a:t>
            </a:r>
            <a:endParaRPr lang="en-US" sz="5000" dirty="0"/>
          </a:p>
        </p:txBody>
      </p:sp>
      <p:sp>
        <p:nvSpPr>
          <p:cNvPr id="6" name="Text 4"/>
          <p:cNvSpPr/>
          <p:nvPr/>
        </p:nvSpPr>
        <p:spPr>
          <a:xfrm>
            <a:off x="777240" y="3383280"/>
            <a:ext cx="4297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movimentados pelo audiovisual brasileiro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77240" y="3822192"/>
            <a:ext cx="4297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i="1" dirty="0">
                <a:solidFill>
                  <a:srgbClr val="9AA3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+29% investimento público · +197% bilheteria nacional · 11,2% de participação de mercado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5577840" y="2148840"/>
            <a:ext cx="6035040" cy="676656"/>
          </a:xfrm>
          <a:prstGeom prst="roundRect">
            <a:avLst>
              <a:gd name="adj" fmla="val 10811"/>
            </a:avLst>
          </a:prstGeom>
          <a:solidFill>
            <a:srgbClr val="0E1626"/>
          </a:solidFill>
          <a:ln/>
        </p:spPr>
      </p:sp>
      <p:sp>
        <p:nvSpPr>
          <p:cNvPr id="9" name="Text 7"/>
          <p:cNvSpPr/>
          <p:nvPr/>
        </p:nvSpPr>
        <p:spPr>
          <a:xfrm>
            <a:off x="5760720" y="2148840"/>
            <a:ext cx="178308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18.357</a:t>
            </a:r>
            <a:endParaRPr lang="en-US" sz="2500" dirty="0"/>
          </a:p>
        </p:txBody>
      </p:sp>
      <p:sp>
        <p:nvSpPr>
          <p:cNvPr id="10" name="Text 8"/>
          <p:cNvSpPr/>
          <p:nvPr/>
        </p:nvSpPr>
        <p:spPr>
          <a:xfrm>
            <a:off x="7543800" y="2148840"/>
            <a:ext cx="393192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200" dirty="0">
                <a:solidFill>
                  <a:srgbClr val="C7CD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empresas audiovisuais registradas na ANCINE (fev/2026)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577840" y="2935224"/>
            <a:ext cx="6035040" cy="676656"/>
          </a:xfrm>
          <a:prstGeom prst="roundRect">
            <a:avLst>
              <a:gd name="adj" fmla="val 10811"/>
            </a:avLst>
          </a:prstGeom>
          <a:solidFill>
            <a:srgbClr val="0E1626"/>
          </a:solidFill>
          <a:ln/>
        </p:spPr>
      </p:sp>
      <p:sp>
        <p:nvSpPr>
          <p:cNvPr id="12" name="Text 10"/>
          <p:cNvSpPr/>
          <p:nvPr/>
        </p:nvSpPr>
        <p:spPr>
          <a:xfrm>
            <a:off x="5760720" y="2935224"/>
            <a:ext cx="178308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10.424</a:t>
            </a:r>
            <a:endParaRPr lang="en-US" sz="2500" dirty="0"/>
          </a:p>
        </p:txBody>
      </p:sp>
      <p:sp>
        <p:nvSpPr>
          <p:cNvPr id="13" name="Text 11"/>
          <p:cNvSpPr/>
          <p:nvPr/>
        </p:nvSpPr>
        <p:spPr>
          <a:xfrm>
            <a:off x="7543800" y="2935224"/>
            <a:ext cx="393192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200" dirty="0">
                <a:solidFill>
                  <a:srgbClr val="C7CD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produtoras independentes cadastradas (2024)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577840" y="3721608"/>
            <a:ext cx="6035040" cy="676656"/>
          </a:xfrm>
          <a:prstGeom prst="roundRect">
            <a:avLst>
              <a:gd name="adj" fmla="val 10811"/>
            </a:avLst>
          </a:prstGeom>
          <a:solidFill>
            <a:srgbClr val="0E1626"/>
          </a:solidFill>
          <a:ln/>
        </p:spPr>
      </p:sp>
      <p:sp>
        <p:nvSpPr>
          <p:cNvPr id="15" name="Text 13"/>
          <p:cNvSpPr/>
          <p:nvPr/>
        </p:nvSpPr>
        <p:spPr>
          <a:xfrm>
            <a:off x="5760720" y="3721608"/>
            <a:ext cx="178308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608 mil</a:t>
            </a:r>
            <a:endParaRPr lang="en-US" sz="2500" dirty="0"/>
          </a:p>
        </p:txBody>
      </p:sp>
      <p:sp>
        <p:nvSpPr>
          <p:cNvPr id="16" name="Text 14"/>
          <p:cNvSpPr/>
          <p:nvPr/>
        </p:nvSpPr>
        <p:spPr>
          <a:xfrm>
            <a:off x="7543800" y="3721608"/>
            <a:ext cx="393192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200" dirty="0">
                <a:solidFill>
                  <a:srgbClr val="C7CD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empregos diretos e indiretos no setor (2024)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577840" y="4572000"/>
            <a:ext cx="6035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F2A6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Crescimento real, dinheiro entrando — e a operação ainda rodando em WhatsApp e planilha.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548640" y="598932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C85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Fontes: ANCINE — Anuário 2024 / Painel OCA 2025 · Oxford Economics &amp; MPA (2026) · Ministério da Cultura (2026) · Kantar IBOPE Media (2025)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GLAUBER</a:t>
            </a:r>
            <a:pPr algn="l" indent="0" marL="0">
              <a:buNone/>
            </a:pPr>
            <a:r>
              <a:rPr lang="en-US" sz="900" dirty="0">
                <a:solidFill>
                  <a:srgbClr val="9AA3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·   Porto Digital · Pré-Incubação 2026.1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0515600" y="640080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3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7/12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66928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D983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GO-TO-MARKET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10642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465"/>
              </a:lnSpc>
              <a:buNone/>
            </a:pPr>
            <a:r>
              <a:rPr lang="en-US" sz="3300" b="1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Nossa estratégia de entrada.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548640" y="2057400"/>
            <a:ext cx="3444240" cy="2926080"/>
          </a:xfrm>
          <a:prstGeom prst="roundRect">
            <a:avLst>
              <a:gd name="adj" fmla="val 312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68680" y="2286000"/>
            <a:ext cx="1371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E7CB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868680" y="3200400"/>
            <a:ext cx="2804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650" b="1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Técnico como porta de entrada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868680" y="3977640"/>
            <a:ext cx="2804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AD, o Coordenador de Produção e o Diretor de Arte adotam o Glauber. Em cada set novo, apresentam a ferramenta. Custo de aquisição zero.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358640" y="2057400"/>
            <a:ext cx="3444240" cy="2926080"/>
          </a:xfrm>
          <a:prstGeom prst="roundRect">
            <a:avLst>
              <a:gd name="adj" fmla="val 312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678680" y="2286000"/>
            <a:ext cx="1371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E7CB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4600" dirty="0"/>
          </a:p>
        </p:txBody>
      </p:sp>
      <p:sp>
        <p:nvSpPr>
          <p:cNvPr id="10" name="Text 8"/>
          <p:cNvSpPr/>
          <p:nvPr/>
        </p:nvSpPr>
        <p:spPr>
          <a:xfrm>
            <a:off x="4678680" y="3200400"/>
            <a:ext cx="2804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650" b="1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Produtor independente converte</a:t>
            </a:r>
            <a:endParaRPr lang="en-US" sz="1650" dirty="0"/>
          </a:p>
        </p:txBody>
      </p:sp>
      <p:sp>
        <p:nvSpPr>
          <p:cNvPr id="11" name="Text 9"/>
          <p:cNvSpPr/>
          <p:nvPr/>
        </p:nvSpPr>
        <p:spPr>
          <a:xfrm>
            <a:off x="4678680" y="3977640"/>
            <a:ext cx="2804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Quem vive de edital enxerga valor imediato no módulo financeiro e de prestação de contas. Migra do plano gratuito para o Pro.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168640" y="2057400"/>
            <a:ext cx="3444240" cy="2926080"/>
          </a:xfrm>
          <a:prstGeom prst="roundRect">
            <a:avLst>
              <a:gd name="adj" fmla="val 312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488680" y="2286000"/>
            <a:ext cx="1371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E7CB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4600" dirty="0"/>
          </a:p>
        </p:txBody>
      </p:sp>
      <p:sp>
        <p:nvSpPr>
          <p:cNvPr id="14" name="Text 12"/>
          <p:cNvSpPr/>
          <p:nvPr/>
        </p:nvSpPr>
        <p:spPr>
          <a:xfrm>
            <a:off x="8488680" y="3200400"/>
            <a:ext cx="2804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650" b="1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Produtoras médias e grandes</a:t>
            </a:r>
            <a:endParaRPr lang="en-US" sz="1650" dirty="0"/>
          </a:p>
        </p:txBody>
      </p:sp>
      <p:sp>
        <p:nvSpPr>
          <p:cNvPr id="15" name="Text 13"/>
          <p:cNvSpPr/>
          <p:nvPr/>
        </p:nvSpPr>
        <p:spPr>
          <a:xfrm>
            <a:off x="8488680" y="3977640"/>
            <a:ext cx="2804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 tração e casos de uso validados, escalamos para produtoras de médio porte, streamings e agências de publicidade.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48640" y="5257800"/>
            <a:ext cx="11064240" cy="566928"/>
          </a:xfrm>
          <a:prstGeom prst="roundRect">
            <a:avLst>
              <a:gd name="adj" fmla="val 50000"/>
            </a:avLst>
          </a:prstGeom>
          <a:solidFill>
            <a:srgbClr val="16213E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5257800"/>
            <a:ext cx="11064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Modelo bottom-up: o produto se vende dentro do set, de projeto em projeto. Nosso melhor vendedor é o próprio usuário.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GLAUBER</a:t>
            </a:r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·   Porto Digital · Pré-Incubação 2026.1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0515600" y="640080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8/12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66928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D983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MODELO DE NEGÓCIO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10642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465"/>
              </a:lnSpc>
              <a:buNone/>
            </a:pPr>
            <a:r>
              <a:rPr lang="en-US" sz="3300" b="1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Freemium: entre de graça, cresça pagando.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548640" y="2148840"/>
            <a:ext cx="3444240" cy="34290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2700">
            <a:solidFill>
              <a:srgbClr val="E2E5EA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2468880"/>
            <a:ext cx="3444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548640" y="2862072"/>
            <a:ext cx="344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porta de entrada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3154680"/>
            <a:ext cx="344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R$ 0</a:t>
            </a:r>
            <a:pPr algn="ctr"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/sempre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960120" y="3931920"/>
            <a:ext cx="280416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projeto ativo</a:t>
            </a:r>
            <a:endParaRPr lang="en-US" sz="12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Equipe até 10 pessoas</a:t>
            </a:r>
            <a:endParaRPr lang="en-US" sz="12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Ordem do Dia + Chat</a:t>
            </a:r>
            <a:endParaRPr lang="en-US" sz="12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Decupagem das 5 primeiras cenas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358640" y="2148840"/>
            <a:ext cx="3444240" cy="3429000"/>
          </a:xfrm>
          <a:prstGeom prst="roundRect">
            <a:avLst>
              <a:gd name="adj" fmla="val 2667"/>
            </a:avLst>
          </a:prstGeom>
          <a:solidFill>
            <a:srgbClr val="16213E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358640" y="2286000"/>
            <a:ext cx="344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F2A6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MAIS POPULAR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358640" y="2606040"/>
            <a:ext cx="3444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 TEC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4358640" y="2999232"/>
            <a:ext cx="344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2A6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Pessoa Física · técnico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358640" y="3291840"/>
            <a:ext cx="344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2A6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R$ 149</a:t>
            </a:r>
            <a:pPr algn="ctr" indent="0" marL="0">
              <a:buNone/>
            </a:pPr>
            <a:r>
              <a:rPr lang="en-US" sz="1300" dirty="0">
                <a:solidFill>
                  <a:srgbClr val="AAB2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/mês</a:t>
            </a:r>
            <a:endParaRPr lang="en-US" sz="3400" dirty="0"/>
          </a:p>
        </p:txBody>
      </p:sp>
      <p:sp>
        <p:nvSpPr>
          <p:cNvPr id="14" name="Text 12"/>
          <p:cNvSpPr/>
          <p:nvPr/>
        </p:nvSpPr>
        <p:spPr>
          <a:xfrm>
            <a:off x="4770120" y="4023360"/>
            <a:ext cx="280416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D7DC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Até 2 projetos · equipe 15</a:t>
            </a:r>
            <a:endParaRPr lang="en-US" sz="12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D7DC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Decupagem 100% + OD ilimitada</a:t>
            </a:r>
            <a:endParaRPr lang="en-US" sz="12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D7DC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financeiro completo</a:t>
            </a:r>
            <a:endParaRPr lang="en-US" sz="12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D7DC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Relatórios para edital · IA · suporte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8168640" y="2148840"/>
            <a:ext cx="3444240" cy="34290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2700">
            <a:solidFill>
              <a:srgbClr val="E2E5EA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8168640" y="2468880"/>
            <a:ext cx="3444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 SET</a:t>
            </a:r>
            <a:endParaRPr lang="en-US" sz="2100" dirty="0"/>
          </a:p>
        </p:txBody>
      </p:sp>
      <p:sp>
        <p:nvSpPr>
          <p:cNvPr id="17" name="Text 15"/>
          <p:cNvSpPr/>
          <p:nvPr/>
        </p:nvSpPr>
        <p:spPr>
          <a:xfrm>
            <a:off x="8168640" y="2862072"/>
            <a:ext cx="344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Pessoa Jurídica · produtora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168640" y="3154680"/>
            <a:ext cx="344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R$ 499</a:t>
            </a:r>
            <a:pPr algn="ctr"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/mês</a:t>
            </a:r>
            <a:endParaRPr lang="en-US" sz="3400" dirty="0"/>
          </a:p>
        </p:txBody>
      </p:sp>
      <p:sp>
        <p:nvSpPr>
          <p:cNvPr id="19" name="Text 17"/>
          <p:cNvSpPr/>
          <p:nvPr/>
        </p:nvSpPr>
        <p:spPr>
          <a:xfrm>
            <a:off x="8580120" y="3931920"/>
            <a:ext cx="280416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Até 5 projetos · equipe 50</a:t>
            </a:r>
            <a:endParaRPr lang="en-US" sz="12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Uso completo e ilimitado</a:t>
            </a:r>
            <a:endParaRPr lang="en-US" sz="12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Onboarding dedicado</a:t>
            </a:r>
            <a:endParaRPr lang="en-US" sz="12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Add-ons Premium (IA NF, ANCINE, VoIP)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548640" y="571500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plano PRO é o foco: o módulo financeiro se paga sozinho numa única glosa de edital evitada.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GLAUBER</a:t>
            </a:r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·   Porto Digital · Pré-Incubação 2026.1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0515600" y="640080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9/12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66928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D983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DIFERENCIAIS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10642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465"/>
              </a:lnSpc>
              <a:buNone/>
            </a:pPr>
            <a:r>
              <a:rPr lang="en-US" sz="3300" b="1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 que o Glauber, e não outro?</a:t>
            </a:r>
            <a:endParaRPr lang="en-US" sz="33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011680"/>
          <a:ext cx="11064240" cy="914400"/>
        </p:xfrm>
        <a:graphic>
          <a:graphicData uri="http://schemas.openxmlformats.org/drawingml/2006/table">
            <a:tbl>
              <a:tblPr/>
              <a:tblGrid>
                <a:gridCol w="4297680"/>
                <a:gridCol w="1737360"/>
                <a:gridCol w="1691640"/>
                <a:gridCol w="1691640"/>
                <a:gridCol w="1645920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Critério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Glauber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Google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Workspace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Movie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Magic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Monday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/ Trello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F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Vertical audiovisual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2E9E5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AD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C24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✗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C24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✗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F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Módulo financeiro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2E9E5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AD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C24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✗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2E9E5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C24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✗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F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Comunicação em set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2E9E5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AD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C24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✗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C24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✗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F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Logística de equipe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2E9E5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AD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C24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✗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C24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✗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C24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✗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F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Prestação de contas p/ edital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2E9E5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AD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C24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✗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C24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✗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C24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✗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F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Acessível ao profissional independente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2E9E5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AD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2E9E5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C24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✗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2E9E5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553212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i="1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Glauber é a única plataforma construída de dentro do set, para o set — verticalmente especializada no audiovisual.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GLAUBER</a:t>
            </a:r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·   Porto Digital · Pré-Incubação 2026.1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0515600" y="640080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10/12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66928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D983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EQUIPE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10642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465"/>
              </a:lnSpc>
              <a:buNone/>
            </a:pPr>
            <a:r>
              <a:rPr lang="en-US" sz="3300" b="1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Quem está por trás do Glauber.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5303520" cy="320040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331720"/>
            <a:ext cx="1005840" cy="1005840"/>
          </a:xfrm>
          <a:prstGeom prst="ellipse">
            <a:avLst/>
          </a:prstGeom>
          <a:solidFill>
            <a:srgbClr val="16213E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2331720"/>
            <a:ext cx="1005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2A6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2103120" y="242316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Chico Amorim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2103120" y="2907792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D983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CO-FUNDADOR · PRODUTO &amp; OPERAÇÕES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914400" y="3566160"/>
            <a:ext cx="4572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Cineasta e diretor com mais de 20 anos em cinema e streaming. Conhece cada dor do set por dentro — fundou o Glauber porque viveu o problema em toda produção que dirigiu.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914400" y="4663440"/>
            <a:ext cx="863194" cy="365760"/>
          </a:xfrm>
          <a:prstGeom prst="roundRect">
            <a:avLst>
              <a:gd name="adj" fmla="val 50000"/>
            </a:avLst>
          </a:prstGeom>
          <a:solidFill>
            <a:srgbClr val="EAF0F6"/>
          </a:solidFill>
          <a:ln/>
        </p:spPr>
      </p:sp>
      <p:sp>
        <p:nvSpPr>
          <p:cNvPr id="11" name="Text 9"/>
          <p:cNvSpPr/>
          <p:nvPr/>
        </p:nvSpPr>
        <p:spPr>
          <a:xfrm>
            <a:off x="914400" y="4663440"/>
            <a:ext cx="86319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Diretor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1914754" y="4663440"/>
            <a:ext cx="1115568" cy="365760"/>
          </a:xfrm>
          <a:prstGeom prst="roundRect">
            <a:avLst>
              <a:gd name="adj" fmla="val 50000"/>
            </a:avLst>
          </a:prstGeom>
          <a:solidFill>
            <a:srgbClr val="EAF0F6"/>
          </a:solidFill>
          <a:ln/>
        </p:spPr>
      </p:sp>
      <p:sp>
        <p:nvSpPr>
          <p:cNvPr id="13" name="Text 11"/>
          <p:cNvSpPr/>
          <p:nvPr/>
        </p:nvSpPr>
        <p:spPr>
          <a:xfrm>
            <a:off x="1914754" y="4663440"/>
            <a:ext cx="11155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Roteirista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167482" y="4663440"/>
            <a:ext cx="947318" cy="365760"/>
          </a:xfrm>
          <a:prstGeom prst="roundRect">
            <a:avLst>
              <a:gd name="adj" fmla="val 50000"/>
            </a:avLst>
          </a:prstGeom>
          <a:solidFill>
            <a:srgbClr val="EAF0F6"/>
          </a:solidFill>
          <a:ln/>
        </p:spPr>
      </p:sp>
      <p:sp>
        <p:nvSpPr>
          <p:cNvPr id="15" name="Text 13"/>
          <p:cNvSpPr/>
          <p:nvPr/>
        </p:nvSpPr>
        <p:spPr>
          <a:xfrm>
            <a:off x="3167482" y="4663440"/>
            <a:ext cx="94731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Produtor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309360" y="2011680"/>
            <a:ext cx="5303520" cy="320040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675120" y="2331720"/>
            <a:ext cx="1005840" cy="1005840"/>
          </a:xfrm>
          <a:prstGeom prst="ellipse">
            <a:avLst/>
          </a:prstGeom>
          <a:solidFill>
            <a:srgbClr val="16213E"/>
          </a:solidFill>
          <a:ln/>
        </p:spPr>
      </p:sp>
      <p:sp>
        <p:nvSpPr>
          <p:cNvPr id="18" name="Text 16"/>
          <p:cNvSpPr/>
          <p:nvPr/>
        </p:nvSpPr>
        <p:spPr>
          <a:xfrm>
            <a:off x="6675120" y="2331720"/>
            <a:ext cx="1005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2A6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</a:t>
            </a:r>
            <a:endParaRPr lang="en-US" sz="4000" dirty="0"/>
          </a:p>
        </p:txBody>
      </p:sp>
      <p:sp>
        <p:nvSpPr>
          <p:cNvPr id="19" name="Text 17"/>
          <p:cNvSpPr/>
          <p:nvPr/>
        </p:nvSpPr>
        <p:spPr>
          <a:xfrm>
            <a:off x="7863840" y="242316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Thiago França</a:t>
            </a:r>
            <a:endParaRPr lang="en-US" sz="2100" dirty="0"/>
          </a:p>
        </p:txBody>
      </p:sp>
      <p:sp>
        <p:nvSpPr>
          <p:cNvPr id="20" name="Text 18"/>
          <p:cNvSpPr/>
          <p:nvPr/>
        </p:nvSpPr>
        <p:spPr>
          <a:xfrm>
            <a:off x="7863840" y="2907792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D983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CO-FUNDADOR · TECNOLOGIA &amp; DESENVOLVIMENTO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6675120" y="3566160"/>
            <a:ext cx="4572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1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Cineasta e diretor com mais de 20 anos em audiovisual. Responsável pela arquitetura e pelo desenvolvimento do MVP — construiu todos os módulos, da Ordem do Dia ao financeiro.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6675120" y="4663440"/>
            <a:ext cx="1452067" cy="365760"/>
          </a:xfrm>
          <a:prstGeom prst="roundRect">
            <a:avLst>
              <a:gd name="adj" fmla="val 50000"/>
            </a:avLst>
          </a:prstGeom>
          <a:solidFill>
            <a:srgbClr val="EAF0F6"/>
          </a:solidFill>
          <a:ln/>
        </p:spPr>
      </p:sp>
      <p:sp>
        <p:nvSpPr>
          <p:cNvPr id="23" name="Text 21"/>
          <p:cNvSpPr/>
          <p:nvPr/>
        </p:nvSpPr>
        <p:spPr>
          <a:xfrm>
            <a:off x="6675120" y="4663440"/>
            <a:ext cx="1452067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 full-stack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8264347" y="4663440"/>
            <a:ext cx="1199693" cy="365760"/>
          </a:xfrm>
          <a:prstGeom prst="roundRect">
            <a:avLst>
              <a:gd name="adj" fmla="val 50000"/>
            </a:avLst>
          </a:prstGeom>
          <a:solidFill>
            <a:srgbClr val="EAF0F6"/>
          </a:solidFill>
          <a:ln/>
        </p:spPr>
      </p:sp>
      <p:sp>
        <p:nvSpPr>
          <p:cNvPr id="25" name="Text 23"/>
          <p:cNvSpPr/>
          <p:nvPr/>
        </p:nvSpPr>
        <p:spPr>
          <a:xfrm>
            <a:off x="8264347" y="4663440"/>
            <a:ext cx="1199693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Arquitetura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9601200" y="4663440"/>
            <a:ext cx="1367942" cy="365760"/>
          </a:xfrm>
          <a:prstGeom prst="roundRect">
            <a:avLst>
              <a:gd name="adj" fmla="val 50000"/>
            </a:avLst>
          </a:prstGeom>
          <a:solidFill>
            <a:srgbClr val="EAF0F6"/>
          </a:solidFill>
          <a:ln/>
        </p:spPr>
      </p:sp>
      <p:sp>
        <p:nvSpPr>
          <p:cNvPr id="27" name="Text 25"/>
          <p:cNvSpPr/>
          <p:nvPr/>
        </p:nvSpPr>
        <p:spPr>
          <a:xfrm>
            <a:off x="9601200" y="4663440"/>
            <a:ext cx="136794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MVP funcional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548640" y="5440680"/>
            <a:ext cx="11064240" cy="548640"/>
          </a:xfrm>
          <a:prstGeom prst="roundRect">
            <a:avLst>
              <a:gd name="adj" fmla="val 50000"/>
            </a:avLst>
          </a:prstGeom>
          <a:solidFill>
            <a:srgbClr val="16213E"/>
          </a:solidFill>
          <a:ln/>
        </p:spPr>
      </p:sp>
      <p:sp>
        <p:nvSpPr>
          <p:cNvPr id="29" name="Text 27"/>
          <p:cNvSpPr/>
          <p:nvPr/>
        </p:nvSpPr>
        <p:spPr>
          <a:xfrm>
            <a:off x="548640" y="544068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Selecionados para o Programa de Pré-Incubação 2026.1 do Porto Digital — Recife, PE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GLAUBER</a:t>
            </a:r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·   Porto Digital · Pré-Incubação 2026.1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0515600" y="640080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11/12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E16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235440" y="-1463040"/>
            <a:ext cx="4023360" cy="4023360"/>
          </a:xfrm>
          <a:prstGeom prst="ellipse">
            <a:avLst/>
          </a:prstGeom>
          <a:solidFill>
            <a:srgbClr val="16213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64008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2A6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PRÓXIMOS PASSOS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1051560"/>
            <a:ext cx="10972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42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Glauber já existe.</a:t>
            </a:r>
            <a:endParaRPr lang="en-US" sz="3800" dirty="0"/>
          </a:p>
          <a:p>
            <a:pPr indent="0" marL="0">
              <a:lnSpc>
                <a:spcPts val="4200"/>
              </a:lnSpc>
              <a:buNone/>
            </a:pPr>
            <a:r>
              <a:rPr lang="en-US" sz="3800" b="1" dirty="0">
                <a:solidFill>
                  <a:srgbClr val="F2A6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Agora precisa escalar.</a:t>
            </a:r>
            <a:endParaRPr lang="en-US" sz="38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880360"/>
            <a:ext cx="365760" cy="3657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97280" y="283464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550" b="1" dirty="0">
                <a:solidFill>
                  <a:srgbClr val="F2A6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 </a:t>
            </a:r>
            <a:pPr indent="0" marL="0">
              <a:lnSpc>
                <a:spcPts val="1900"/>
              </a:lnSpc>
              <a:buNone/>
            </a:pPr>
            <a:r>
              <a:rPr lang="en-US" sz="1550" dirty="0">
                <a:solidFill>
                  <a:srgbClr val="D7DC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Primeiros clientes pagantes em Recife — produtoras parceiras já em conversa.</a:t>
            </a:r>
            <a:endParaRPr lang="en-US" sz="155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3721608"/>
            <a:ext cx="365760" cy="36576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097280" y="3675888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550" b="1" dirty="0">
                <a:solidFill>
                  <a:srgbClr val="F2A6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 </a:t>
            </a:r>
            <a:pPr indent="0" marL="0">
              <a:lnSpc>
                <a:spcPts val="1900"/>
              </a:lnSpc>
              <a:buNone/>
            </a:pPr>
            <a:r>
              <a:rPr lang="en-US" sz="1550" dirty="0">
                <a:solidFill>
                  <a:srgbClr val="D7DC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 de Desenvolvimento e Marketing para acelerar o produto.</a:t>
            </a:r>
            <a:endParaRPr lang="en-US" sz="15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4562856"/>
            <a:ext cx="365760" cy="36576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097280" y="4517136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550" b="1" dirty="0">
                <a:solidFill>
                  <a:srgbClr val="F2A6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 </a:t>
            </a:r>
            <a:pPr indent="0" marL="0">
              <a:lnSpc>
                <a:spcPts val="1900"/>
              </a:lnSpc>
              <a:buNone/>
            </a:pPr>
            <a:r>
              <a:rPr lang="en-US" sz="1550" dirty="0">
                <a:solidFill>
                  <a:srgbClr val="D7DC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Expansão nacional via rede de técnicos e parceiros institucionais.</a:t>
            </a:r>
            <a:endParaRPr lang="en-US" sz="1550" dirty="0"/>
          </a:p>
        </p:txBody>
      </p:sp>
      <p:sp>
        <p:nvSpPr>
          <p:cNvPr id="11" name="Shape 6"/>
          <p:cNvSpPr/>
          <p:nvPr/>
        </p:nvSpPr>
        <p:spPr>
          <a:xfrm>
            <a:off x="8321040" y="2743200"/>
            <a:ext cx="3291840" cy="2651760"/>
          </a:xfrm>
          <a:prstGeom prst="roundRect">
            <a:avLst>
              <a:gd name="adj" fmla="val 4138"/>
            </a:avLst>
          </a:prstGeom>
          <a:solidFill>
            <a:srgbClr val="16213E"/>
          </a:solidFill>
          <a:ln w="19050">
            <a:solidFill>
              <a:srgbClr val="D98324"/>
            </a:solidFill>
            <a:prstDash val="solid"/>
          </a:ln>
        </p:spPr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95360" y="3017520"/>
            <a:ext cx="365760" cy="36576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8595360" y="352044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sistema operacional para produções audiovisuais.</a:t>
            </a:r>
            <a:endParaRPr lang="en-US" sz="1800" dirty="0"/>
          </a:p>
        </p:txBody>
      </p:sp>
      <p:sp>
        <p:nvSpPr>
          <p:cNvPr id="14" name="Text 8"/>
          <p:cNvSpPr/>
          <p:nvPr/>
        </p:nvSpPr>
        <p:spPr>
          <a:xfrm>
            <a:off x="8595360" y="48006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2A6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Porto Digital · 2026.1 · Recife · PE</a:t>
            </a:r>
            <a:endParaRPr lang="en-US" sz="1100" dirty="0"/>
          </a:p>
        </p:txBody>
      </p:sp>
      <p:sp>
        <p:nvSpPr>
          <p:cNvPr id="15" name="Text 9"/>
          <p:cNvSpPr/>
          <p:nvPr/>
        </p:nvSpPr>
        <p:spPr>
          <a:xfrm>
            <a:off x="548640" y="580644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i="1" dirty="0">
                <a:solidFill>
                  <a:srgbClr val="9AA3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“Do motorista ao produtor executivo: todos na mesma base de dados, em tempo real.”</a:t>
            </a:r>
            <a:endParaRPr lang="en-US" sz="1300" dirty="0"/>
          </a:p>
        </p:txBody>
      </p:sp>
      <p:sp>
        <p:nvSpPr>
          <p:cNvPr id="16" name="Text 10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GLAUBER</a:t>
            </a:r>
            <a:pPr algn="l" indent="0" marL="0">
              <a:buNone/>
            </a:pPr>
            <a:r>
              <a:rPr lang="en-US" sz="900" dirty="0">
                <a:solidFill>
                  <a:srgbClr val="9AA3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·   Porto Digital · Pré-Incubação 2026.1</a:t>
            </a:r>
            <a:endParaRPr lang="en-US" sz="900" dirty="0"/>
          </a:p>
        </p:txBody>
      </p:sp>
      <p:sp>
        <p:nvSpPr>
          <p:cNvPr id="17" name="Text 11"/>
          <p:cNvSpPr/>
          <p:nvPr/>
        </p:nvSpPr>
        <p:spPr>
          <a:xfrm>
            <a:off x="10515600" y="640080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3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12/12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Glauber — Pitch Deck — Porto Digital 2026.1</dc:title>
  <dc:subject>PptxGenJS Presentation</dc:subject>
  <dc:creator>Glauber</dc:creator>
  <cp:lastModifiedBy>Glauber</cp:lastModifiedBy>
  <cp:revision>1</cp:revision>
  <dcterms:created xsi:type="dcterms:W3CDTF">2026-06-23T01:01:38Z</dcterms:created>
  <dcterms:modified xsi:type="dcterms:W3CDTF">2026-06-23T01:01:38Z</dcterms:modified>
</cp:coreProperties>
</file>