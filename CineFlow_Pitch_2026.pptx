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1000" kern="0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CINEFLOW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2606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Operacional para Produções Audiovisuais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0"/>
            <a:ext cx="3200400" cy="36576"/>
          </a:xfrm>
          <a:prstGeom prst="rect">
            <a:avLst/>
          </a:prstGeom>
          <a:solidFill>
            <a:srgbClr val="9B6A14"/>
          </a:solidFill>
          <a:ln w="12700">
            <a:solidFill>
              <a:srgbClr val="9B6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429000"/>
            <a:ext cx="16916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9B6A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429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· B2B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3429000"/>
            <a:ext cx="16916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9B6A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3429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3429000"/>
            <a:ext cx="16916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9B6A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3429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3429000"/>
            <a:ext cx="16916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9B6A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429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Recife · 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Pré-Incubação 2026.1 · Porto Digital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1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O PROBLEMA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554480"/>
          </a:xfrm>
          <a:prstGeom prst="rect">
            <a:avLst/>
          </a:prstGeom>
          <a:solidFill>
            <a:srgbClr val="1A050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6h da manhã. A diária custa R$ 30.000.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ator está no carro errado. O diretor não sabe que o horário mudou — ficou perdido num grupo de WhatsApp.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produtor não consegue aprovar uma verba urgente. O roteiro atualizado? Ninguém sabe onde está.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09344" cy="224028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7432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24612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caótico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359359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dispersa, sem controle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029968" y="2606040"/>
            <a:ext cx="1609344" cy="224028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7432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29968" y="324612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perdidos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029968" y="359359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do Dia sem versão, sem confirmação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94176" y="2606040"/>
            <a:ext cx="1609344" cy="224028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7432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94176" y="324612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verbal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694176" y="359359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registro formal para editais públicos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358384" y="2606040"/>
            <a:ext cx="1609344" cy="224028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74320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58384" y="324612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logística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358384" y="359359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sem monitoramento em tempo real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7022592" y="2606040"/>
            <a:ext cx="1609344" cy="224028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664" y="274320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22592" y="324612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desorganizadas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022592" y="359359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pós-produção impossível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perda financeira, retrabalho e risco à reputação da produtora.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 QUEM SOMOS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1A1A1A"/>
          </a:solidFill>
          <a:ln w="12700">
            <a:solidFill>
              <a:srgbClr val="9B6A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02336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097280"/>
            <a:ext cx="914400" cy="914400"/>
          </a:xfrm>
          <a:prstGeom prst="ellipse">
            <a:avLst/>
          </a:prstGeom>
          <a:solidFill>
            <a:srgbClr val="9B6A14"/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[Seu Nome]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Co-fundador · Especialista Audiovisual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2971800"/>
            <a:ext cx="2926080" cy="274320"/>
          </a:xfrm>
          <a:prstGeom prst="rect">
            <a:avLst/>
          </a:prstGeom>
          <a:solidFill>
            <a:srgbClr val="2A1A0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 / Cinema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prática em sets de filmagem. Conhecimento profundo das dores operacionais de uma produção cinematográfica. A CineFlow nasce de dentro do set.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4023360" cy="3931920"/>
          </a:xfrm>
          <a:prstGeom prst="rect">
            <a:avLst/>
          </a:prstGeom>
          <a:solidFill>
            <a:srgbClr val="1A1A1A"/>
          </a:solidFill>
          <a:ln w="12700">
            <a:solidFill>
              <a:srgbClr val="9B6A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68680"/>
            <a:ext cx="402336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097280"/>
            <a:ext cx="914400" cy="914400"/>
          </a:xfrm>
          <a:prstGeom prst="ellipse">
            <a:avLst/>
          </a:prstGeom>
          <a:solidFill>
            <a:srgbClr val="9B6A14"/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[Nome do Sócio]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Co-fundador · [Área de Atuação]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0" y="2971800"/>
            <a:ext cx="2926080" cy="274320"/>
          </a:xfrm>
          <a:prstGeom prst="rect">
            <a:avLst/>
          </a:prstGeom>
          <a:solidFill>
            <a:srgbClr val="2A1A0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 Complementar]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em [tecnologia / negócios / gestão]. Responsável pela arquitetura técnica e modelo de negócio da plataforma.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 raiz no ecossistema audiovisual de Pernambuco. A CineFlow nasce de dentro do problema.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A SOLUÇÃO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operacional de uma produção audiovisual.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337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E40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91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0020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2176272"/>
            <a:ext cx="1691640" cy="256032"/>
          </a:xfrm>
          <a:prstGeom prst="rect">
            <a:avLst/>
          </a:prstGeom>
          <a:solidFill>
            <a:srgbClr val="003322"/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176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Fase 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11480" y="2514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do Dia Interativa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29768" y="3090672"/>
            <a:ext cx="248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em tempo real. Todos os departamentos notificados automaticamente. Confirmação de leitura obrigatória. Fim do PDF perdido.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417320"/>
            <a:ext cx="2697480" cy="3337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E40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417320"/>
            <a:ext cx="2697480" cy="91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00200"/>
            <a:ext cx="502920" cy="5029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703320" y="2176272"/>
            <a:ext cx="1691640" cy="256032"/>
          </a:xfrm>
          <a:prstGeom prst="rect">
            <a:avLst/>
          </a:prstGeom>
          <a:solidFill>
            <a:srgbClr val="003322"/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03320" y="2176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Fase 1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291840" y="2514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Verba Digital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310128" y="3090672"/>
            <a:ext cx="248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Chefe de departamento solicita pelo app. Produtor aprova com um clique. Registro imediato para prestação de contas em editais públicos.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80760" y="1417320"/>
            <a:ext cx="2697480" cy="3337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E40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80760" y="1417320"/>
            <a:ext cx="2697480" cy="91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00200"/>
            <a:ext cx="502920" cy="5029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583680" y="2176272"/>
            <a:ext cx="1691640" cy="256032"/>
          </a:xfrm>
          <a:prstGeom prst="rect">
            <a:avLst/>
          </a:prstGeom>
          <a:solidFill>
            <a:srgbClr val="1A1A0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583680" y="2176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172200" y="2514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VoIP por Departamento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190488" y="3090672"/>
            <a:ext cx="248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de áudio por departamento no celular. Substitui o aluguel de rádios físicos. Redução de custo operacional imediata.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20040" y="4800600"/>
            <a:ext cx="8503920" cy="237744"/>
          </a:xfrm>
          <a:prstGeom prst="rect">
            <a:avLst/>
          </a:prstGeom>
          <a:solidFill>
            <a:srgbClr val="0A2A2A"/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20040" y="480060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Diferencial: única plataforma que integra operações, financeiro e comunicação em um ecossistema vertical para o audiovisual.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MERCADO &amp; MODELO DE NEGÓCIO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47472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9B6A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produtoras ativas no Brasil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240280"/>
            <a:ext cx="347472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9B6A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FUNCULTURA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2926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fiscal em Pernambuco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611880"/>
            <a:ext cx="347472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9B6A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" y="4297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por novo cliente (SaaS)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868680"/>
            <a:ext cx="4709160" cy="397764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960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SaaS — Receita Recorrente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1444752"/>
            <a:ext cx="4434840" cy="621792"/>
          </a:xfrm>
          <a:prstGeom prst="rect">
            <a:avLst/>
          </a:prstGeom>
          <a:solidFill>
            <a:srgbClr val="1A1200"/>
          </a:solidFill>
          <a:ln w="1524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Independente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R$ 300–500/mês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43400" y="177393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projeto ativo · até 20 usuários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51960" y="2176272"/>
            <a:ext cx="4434840" cy="621792"/>
          </a:xfrm>
          <a:prstGeom prst="rect">
            <a:avLst/>
          </a:prstGeom>
          <a:solidFill>
            <a:srgbClr val="111111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Produtoras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R$ 600–900/mês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43400" y="250545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simultâneos · até 50 usuários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51960" y="2907792"/>
            <a:ext cx="4434840" cy="621792"/>
          </a:xfrm>
          <a:prstGeom prst="rect">
            <a:avLst/>
          </a:prstGeom>
          <a:solidFill>
            <a:srgbClr val="111111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Estúdios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R$ 1.200+/mês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43400" y="32369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· suporte dedicado · add-ons IA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51960" y="3639312"/>
            <a:ext cx="4434840" cy="621792"/>
          </a:xfrm>
          <a:prstGeom prst="rect">
            <a:avLst/>
          </a:prstGeom>
          <a:solidFill>
            <a:srgbClr val="111111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por Projeto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único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43400" y="396849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produções pontuais e festivais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51960" y="45720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 do custo de uma diária típica de produção.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PLANO DAS 14 SEMANAS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construir com o apoio do Programa de Pré-Incubação do Porto Digital: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3520440"/>
          </a:xfrm>
          <a:prstGeom prst="rect">
            <a:avLst/>
          </a:prstGeom>
          <a:solidFill>
            <a:srgbClr val="1A1A1A"/>
          </a:solidFill>
          <a:ln w="889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01168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1–3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do Problema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Entrevistar 5+ produtoras locais em Recife para confirmar as hipóteses e mapear as dores prioritárias.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234440"/>
            <a:ext cx="2011680" cy="3520440"/>
          </a:xfrm>
          <a:prstGeom prst="rect">
            <a:avLst/>
          </a:prstGeom>
          <a:solidFill>
            <a:srgbClr val="1A1A1A"/>
          </a:solidFill>
          <a:ln w="889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234440"/>
            <a:ext cx="2011680" cy="91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256032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4–7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do MVP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28803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o protótipo funcional dos módulos: Ordem do Dia Interativa e Solicitação de Verba Digital.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234440"/>
            <a:ext cx="2011680" cy="3520440"/>
          </a:xfrm>
          <a:prstGeom prst="rect">
            <a:avLst/>
          </a:prstGeom>
          <a:solidFill>
            <a:srgbClr val="1A1A1A"/>
          </a:solidFill>
          <a:ln w="889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234440"/>
            <a:ext cx="201168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70916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8–10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Real em Set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28803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com produtoras parceiras para os primeiros testes reais. Iterar com feedback do mercado.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66560" y="1234440"/>
            <a:ext cx="2011680" cy="3520440"/>
          </a:xfrm>
          <a:prstGeom prst="rect">
            <a:avLst/>
          </a:prstGeom>
          <a:solidFill>
            <a:srgbClr val="1A1A1A"/>
          </a:solidFill>
          <a:ln w="889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234440"/>
            <a:ext cx="2011680" cy="91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685800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11–14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&amp; Demoday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0" y="28803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precificação, pitch deck de vendas e apresentar no Demoday com usuários reais validados.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04288" y="22860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53128" y="22860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01968" y="22860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"O CineFlow elimina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custo do caos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audiovisual."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motorista ao produtor executivo —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operando sobre a mesma base de dados, em tempo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3657600" cy="36576"/>
          </a:xfrm>
          <a:prstGeom prst="rect">
            <a:avLst/>
          </a:prstGeom>
          <a:solidFill>
            <a:srgbClr val="9B6A14"/>
          </a:solidFill>
          <a:ln w="12700">
            <a:solidFill>
              <a:srgbClr val="9B6A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CINEFLOW · Porto Digital Pré-Incubação 2026.1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CineFlow Pitch Deck</dc:title>
  <dc:subject>PptxGenJS Presentation</dc:subject>
  <dc:creator>PptxGenJS</dc:creator>
  <cp:lastModifiedBy>PptxGenJS</cp:lastModifiedBy>
  <cp:revision>1</cp:revision>
  <dcterms:created xsi:type="dcterms:W3CDTF">2026-04-07T23:28:55Z</dcterms:created>
  <dcterms:modified xsi:type="dcterms:W3CDTF">2026-04-07T23:28:55Z</dcterms:modified>
</cp:coreProperties>
</file>